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13"/>
    <p:sldId id="263" r:id="rId14"/>
    <p:sldId id="264" r:id="rId15"/>
    <p:sldId id="265" r:id="rId16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Engagement Attribution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365760" y="123444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pattern I've implemented before — sharing for team evaluation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1719072"/>
            <a:ext cx="8412480" cy="274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828800"/>
            <a:ext cx="8412480" cy="2560320"/>
          </a:xfrm>
          <a:prstGeom prst="rect">
            <a:avLst/>
          </a:prstGeom>
          <a:noFill/>
          <a:ln/>
        </p:spPr>
        <p:txBody>
          <a:bodyPr wrap="square" lIns="0" tIns="12700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every marketing engagement as an event-level record in Salesforce.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Attributes engagement to Accounts and Opportunities through topic + account match — OCR membership not required.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Surfaces engagement intelligence on Account and Opportunity pages for sales.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Preserves raw event data for later attribution and AI work.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Sharing the design with the team; will validate fit against our actual situation once discovery is done.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071322"/>
          </a:solidFill>
          <a:ln w="12700">
            <a:solidFill>
              <a:srgbClr val="07132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49149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07080"/>
                </a:solidFill>
              </a:rPr>
              <a:t>May 2026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286000" y="49149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07080"/>
                </a:solidFill>
              </a:rPr>
              <a:t>Engagement Attribution — Zelis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040880" y="49149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07080"/>
                </a:solidFill>
              </a:rPr>
              <a:t>1 / 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OCR ≠ Buying Committee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3657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9149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May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286000" y="49149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Engagement Attribution — Zelis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040880" y="49149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2 / 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40080" y="1005840"/>
            <a:ext cx="3840480" cy="457200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080" y="10058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Opportunity Contact Role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663440" y="1005840"/>
            <a:ext cx="3840480" cy="4572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63440" y="10058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People Actually Engaging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1572768"/>
            <a:ext cx="38404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157276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Sales-entered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663440" y="1572768"/>
            <a:ext cx="38404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0" y="157276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Observed via HubSpot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2084832"/>
            <a:ext cx="3840480" cy="4572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208483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Reflects the deal team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663440" y="2084832"/>
            <a:ext cx="3840480" cy="4572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0" y="208483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Reflects everyone interested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40080" y="2596896"/>
            <a:ext cx="38404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2596896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Updated when reps remember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663440" y="2596896"/>
            <a:ext cx="38404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0" y="2596896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Recorded automatically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40080" y="3108960"/>
            <a:ext cx="3840480" cy="4572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1520" y="31089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by Campaign Influence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663440" y="3108960"/>
            <a:ext cx="3840480" cy="4572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0" y="31089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used by anything currently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40080" y="4553712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Overlap exists but they aren't the same set. The gap includes the buying committee and ecosystem influencers (consultants, partners via AccountContactRelation).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Per-Touch Records, Per-Opportunity Signals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3657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9149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May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286000" y="49149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Engagement Attribution — Zelis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040880" y="49149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3 / 6</a:t>
            </a:r>
            <a:endParaRPr lang="en-US" sz="900" dirty="0"/>
          </a:p>
        </p:txBody>
      </p:sp>
      <p:pic>
        <p:nvPicPr>
          <p:cNvPr id="8" name="Image 0" descr="Architecture flow diagra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960120"/>
            <a:ext cx="7772400" cy="220870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48640" y="3397424"/>
            <a:ext cx="8046720" cy="1197436"/>
          </a:xfrm>
          <a:prstGeom prst="rect">
            <a:avLst/>
          </a:prstGeom>
          <a:noFill/>
          <a:ln/>
        </p:spPr>
        <p:txBody>
          <a:bodyPr wrap="square" lIns="0" tIns="12700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Engagement Touch record per HubSpot event</a:t>
            </a:r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(downloads, form fills, webinars, etc.).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Admin-managed routing rules</a:t>
            </a:r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classify each touch by topic and intent.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 matching uses topic + account + time window. </a:t>
            </a:r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membership not required.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Influence keeps running unchanged; </a:t>
            </a:r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augments it.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Sales Sees — Compact Panel + Drill-Down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3657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9149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May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286000" y="49149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Engagement Attribution — Zelis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040880" y="49149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4 / 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019281" y="914400"/>
            <a:ext cx="2461279" cy="2514600"/>
          </a:xfrm>
          <a:prstGeom prst="rect">
            <a:avLst/>
          </a:prstGeom>
          <a:solidFill>
            <a:srgbClr val="D0D8E4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63440" y="914400"/>
            <a:ext cx="2461279" cy="2514600"/>
          </a:xfrm>
          <a:prstGeom prst="rect">
            <a:avLst/>
          </a:prstGeom>
          <a:solidFill>
            <a:srgbClr val="D0D8E4"/>
          </a:solidFill>
          <a:ln w="12700">
            <a:solidFill>
              <a:srgbClr val="D0D8E4"/>
            </a:solidFill>
            <a:prstDash val="solid"/>
          </a:ln>
        </p:spPr>
      </p:sp>
      <p:pic>
        <p:nvPicPr>
          <p:cNvPr id="10" name="Image 0" descr="Opportunity engagement pan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65001" y="960120"/>
            <a:ext cx="2369839" cy="2423160"/>
          </a:xfrm>
          <a:prstGeom prst="rect">
            <a:avLst/>
          </a:prstGeom>
        </p:spPr>
      </p:pic>
      <p:pic>
        <p:nvPicPr>
          <p:cNvPr id="11" name="Image 1" descr="Account engagement pane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60" y="960120"/>
            <a:ext cx="2369839" cy="24231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065001" y="3429000"/>
            <a:ext cx="236983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 view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4709160" y="3429000"/>
            <a:ext cx="236983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view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457200" y="3703320"/>
            <a:ext cx="8229600" cy="937260"/>
          </a:xfrm>
          <a:prstGeom prst="rect">
            <a:avLst/>
          </a:prstGeom>
          <a:noFill/>
          <a:ln/>
        </p:spPr>
        <p:txBody>
          <a:bodyPr wrap="square" lIns="0" tIns="12700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panel sits on the right rail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small footprint, alongside Chatter and Files.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click "+ Add"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role-picker modal → real OpportunityContactRole record created.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"View all"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grouped detail modal with per-asset history (multiple downloads of the same asset visible).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01168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Outcomes (From Prior Deployments) + AI Foundation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822960"/>
            <a:ext cx="8503920" cy="274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914400"/>
            <a:ext cx="3977640" cy="38404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914400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Available Today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0" y="914400"/>
            <a:ext cx="3977640" cy="384048"/>
          </a:xfrm>
          <a:prstGeom prst="rect">
            <a:avLst/>
          </a:prstGeom>
          <a:solidFill>
            <a:srgbClr val="0070D2"/>
          </a:solidFill>
          <a:ln w="12700">
            <a:solidFill>
              <a:srgbClr val="0070D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0" y="914400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Foundation for Tomorrow — AI / Next-Best-Action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0040" y="1371600"/>
            <a:ext cx="3977640" cy="2651760"/>
          </a:xfrm>
          <a:prstGeom prst="rect">
            <a:avLst/>
          </a:prstGeom>
          <a:noFill/>
          <a:ln/>
        </p:spPr>
        <p:txBody>
          <a:bodyPr wrap="square" lIns="0" tIns="10160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Attribution covers everyone who engaged, not just OCR members.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sees engagement signals tied to active opportunities.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Event-level data preserved.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can add new touch types without engineering.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Influence keeps working for baseline reporting.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0" y="1371600"/>
            <a:ext cx="3977640" cy="2651760"/>
          </a:xfrm>
          <a:prstGeom prst="rect">
            <a:avLst/>
          </a:prstGeom>
          <a:noFill/>
          <a:ln/>
        </p:spPr>
        <p:txBody>
          <a:bodyPr wrap="square" lIns="0" tIns="10160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B8D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Per-rep next-best-action: "CFO at United Healthcare just downloaded pricing — third time. Reach out."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B8D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Buying-motion detection: sequence-aware models (executive engagement → procurement → user).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B8D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Cross-account influence: "this consultant is active across three of our deals."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B8D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deal scoring tied to engagement velocity, not just stage.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0040" y="4224528"/>
            <a:ext cx="8503920" cy="502920"/>
          </a:xfrm>
          <a:prstGeom prst="rect">
            <a:avLst/>
          </a:prstGeom>
          <a:solidFill>
            <a:srgbClr val="0A1520"/>
          </a:solidFill>
          <a:ln w="12700">
            <a:solidFill>
              <a:srgbClr val="0A152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4224528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A0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“We’re not building the AI today. We’re making sure the data is in a shape that lets us build it.”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071322"/>
          </a:solidFill>
          <a:ln w="12700">
            <a:solidFill>
              <a:srgbClr val="07132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49149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07080"/>
                </a:solidFill>
              </a:rPr>
              <a:t>May 2026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286000" y="49149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07080"/>
                </a:solidFill>
              </a:rPr>
              <a:t>Engagement Attribution — Zelis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040880" y="49149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07080"/>
                </a:solidFill>
              </a:rPr>
              <a:t>5 / 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Appendix: Layer Fabric (For Reference)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3657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9149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May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286000" y="49149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Engagement Attribution — Zelis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040880" y="49149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6 / 6</a:t>
            </a:r>
            <a:endParaRPr lang="en-US" sz="900" dirty="0"/>
          </a:p>
        </p:txBody>
      </p:sp>
      <p:pic>
        <p:nvPicPr>
          <p:cNvPr id="8" name="Image 0" descr="Detailed layer architecture diagra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960120"/>
            <a:ext cx="8229600" cy="557573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48640" y="1837733"/>
            <a:ext cx="8046720" cy="2757127"/>
          </a:xfrm>
          <a:prstGeom prst="rect">
            <a:avLst/>
          </a:prstGeom>
          <a:noFill/>
          <a:ln/>
        </p:spPr>
        <p:txBody>
          <a:bodyPr wrap="square" lIns="0" tIns="12700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fflib-aligned layers:</a:t>
            </a:r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Service / Selector / Domain / UnitOfWork / Application factory.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Metadata Types</a:t>
            </a:r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admin-configurable routing rules.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Events</a:t>
            </a:r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async decoupling (ingest → routing; lead conversion → reparenting).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resolution</a:t>
            </a:r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treats unresolved touches as a first-class state (Pending Resolution).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D1B2A"/>
                </a:solidFill>
              </a:rPr>
              <a:t>Backup — Opportunity page, compact engagement panel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8229600" cy="36576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backup-opp-compact-cropp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60120"/>
            <a:ext cx="8229600" cy="34747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4489703"/>
            <a:ext cx="8046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</a:rPr>
              <a:t>Right rail · ~300px tall · Deal Team (2 on OCR) + Engaged not on Deal Team (4) · inline ‘+ Add’.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4919472"/>
            <a:ext cx="9144000" cy="2286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491947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May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4919472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Engagement Attribution — Zelis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0" y="491947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D1B2A"/>
                </a:solidFill>
              </a:rPr>
              <a:t>Backup — Opportunity detail modal (View all)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8229600" cy="36576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backup-opp-modal-cropp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60120"/>
            <a:ext cx="8229600" cy="34747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4489703"/>
            <a:ext cx="8046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</a:rPr>
              <a:t>Full grouped detail · per-asset rows · expand caret reveals individual touches with repeat-count badges.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4919472"/>
            <a:ext cx="9144000" cy="2286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491947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May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4919472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Engagement Attribution — Zelis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0" y="491947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D1B2A"/>
                </a:solidFill>
              </a:rPr>
              <a:t>Backup — Account page, compact engagement panel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8229600" cy="36576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backup-acct-compact-cropp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60120"/>
            <a:ext cx="8229600" cy="34747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4489703"/>
            <a:ext cx="8046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</a:rPr>
              <a:t>Account scope · single flat list (ACR + Contact) · same component, different scope context.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4919472"/>
            <a:ext cx="9144000" cy="2286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491947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May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4919472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Engagement Attribution — Zelis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0" y="491947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D1B2A"/>
                </a:solidFill>
              </a:rPr>
              <a:t>Backup — Account detail modal (View all)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8229600" cy="36576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backup-acct-modal-cropp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60120"/>
            <a:ext cx="8229600" cy="34747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4489703"/>
            <a:ext cx="8046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</a:rPr>
              <a:t>All people engaged at the account · group by Person ↔ Campaign · expand for per-asset history.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4919472"/>
            <a:ext cx="9144000" cy="2286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491947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May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4919472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Engagement Attribution — Zelis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0" y="491947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Engagement Attribution — Pattern Overview</dc:title>
  <dc:subject>Zelis — HubSpot→Salesforce Attribution</dc:subject>
  <dc:creator>David Wood</dc:creator>
  <cp:lastModifiedBy>David Wood</cp:lastModifiedBy>
  <cp:revision>1</cp:revision>
  <dcterms:created xsi:type="dcterms:W3CDTF">2026-05-11T17:13:27Z</dcterms:created>
  <dcterms:modified xsi:type="dcterms:W3CDTF">2026-05-11T17:13:27Z</dcterms:modified>
</cp:coreProperties>
</file>